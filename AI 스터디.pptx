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61" r:id="rId2"/>
    <p:sldId id="260" r:id="rId3"/>
    <p:sldId id="257" r:id="rId4"/>
    <p:sldId id="258" r:id="rId5"/>
    <p:sldId id="256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jpe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타원 6"/>
          <p:cNvSpPr/>
          <p:nvPr/>
        </p:nvSpPr>
        <p:spPr>
          <a:xfrm>
            <a:off x="4139800" y="1674018"/>
            <a:ext cx="3509963" cy="3509963"/>
          </a:xfrm>
          <a:prstGeom prst="ellipse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4600" b="1">
                <a:solidFill>
                  <a:schemeClr val="tx1"/>
                </a:solidFill>
              </a:rPr>
              <a:t>AI</a:t>
            </a:r>
            <a:r>
              <a:rPr lang="ko-KR" altLang="en-US" sz="4600" b="1">
                <a:solidFill>
                  <a:schemeClr val="tx1"/>
                </a:solidFill>
              </a:rPr>
              <a:t>모델</a:t>
            </a:r>
            <a:endParaRPr lang="ko-KR" altLang="en-US" sz="4600" b="1">
              <a:solidFill>
                <a:schemeClr val="tx1"/>
              </a:solidFill>
            </a:endParaRPr>
          </a:p>
        </p:txBody>
      </p:sp>
      <p:sp>
        <p:nvSpPr>
          <p:cNvPr id="10" name="가로 글상자 9"/>
          <p:cNvSpPr txBox="1"/>
          <p:nvPr/>
        </p:nvSpPr>
        <p:spPr>
          <a:xfrm flipH="1">
            <a:off x="1535906" y="2973823"/>
            <a:ext cx="3026569" cy="910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5400" b="1">
                <a:solidFill>
                  <a:srgbClr val="ff0000"/>
                </a:solidFill>
              </a:rPr>
              <a:t>데이터 </a:t>
            </a:r>
            <a:r>
              <a:rPr lang="en-US" altLang="ko-KR" sz="5400" b="1">
                <a:solidFill>
                  <a:srgbClr val="ff0000"/>
                </a:solidFill>
              </a:rPr>
              <a:t>-&gt;</a:t>
            </a:r>
            <a:endParaRPr lang="en-US" altLang="ko-KR" sz="5400" b="1">
              <a:solidFill>
                <a:srgbClr val="ff0000"/>
              </a:solidFill>
            </a:endParaRPr>
          </a:p>
        </p:txBody>
      </p:sp>
      <p:sp>
        <p:nvSpPr>
          <p:cNvPr id="11" name="가로 글상자 10"/>
          <p:cNvSpPr txBox="1"/>
          <p:nvPr/>
        </p:nvSpPr>
        <p:spPr>
          <a:xfrm flipH="1">
            <a:off x="7649764" y="2973823"/>
            <a:ext cx="3026569" cy="910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>
                <a:solidFill>
                  <a:srgbClr val="ff0000"/>
                </a:solidFill>
              </a:rPr>
              <a:t>-&gt;</a:t>
            </a:r>
            <a:r>
              <a:rPr lang="ko-KR" altLang="en-US" sz="5400" b="1">
                <a:solidFill>
                  <a:srgbClr val="ff0000"/>
                </a:solidFill>
              </a:rPr>
              <a:t> 예측값</a:t>
            </a:r>
            <a:endParaRPr lang="ko-KR" altLang="en-US" sz="54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424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1" animBg="1"/>
    </p:bld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가로 글상자 5"/>
          <p:cNvSpPr txBox="1"/>
          <p:nvPr/>
        </p:nvSpPr>
        <p:spPr>
          <a:xfrm flipH="1">
            <a:off x="1101328" y="1957148"/>
            <a:ext cx="3026569" cy="910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5400" b="1">
                <a:solidFill>
                  <a:srgbClr val="ff0000"/>
                </a:solidFill>
              </a:rPr>
              <a:t>분류</a:t>
            </a:r>
            <a:r>
              <a:rPr lang="en-US" altLang="ko-KR" sz="5400" b="1">
                <a:solidFill>
                  <a:srgbClr val="ff0000"/>
                </a:solidFill>
              </a:rPr>
              <a:t>?</a:t>
            </a:r>
            <a:endParaRPr lang="en-US" altLang="ko-KR" sz="5400" b="1">
              <a:solidFill>
                <a:srgbClr val="ff0000"/>
              </a:solidFill>
            </a:endParaRPr>
          </a:p>
        </p:txBody>
      </p:sp>
      <p:sp>
        <p:nvSpPr>
          <p:cNvPr id="7" name="가로 글상자 6"/>
          <p:cNvSpPr txBox="1"/>
          <p:nvPr/>
        </p:nvSpPr>
        <p:spPr>
          <a:xfrm flipH="1">
            <a:off x="1101328" y="3693081"/>
            <a:ext cx="3026569" cy="910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5400" b="1">
                <a:solidFill>
                  <a:srgbClr val="ff0000"/>
                </a:solidFill>
              </a:rPr>
              <a:t>회귀</a:t>
            </a:r>
            <a:r>
              <a:rPr lang="en-US" altLang="ko-KR" sz="5400" b="1">
                <a:solidFill>
                  <a:srgbClr val="ff0000"/>
                </a:solidFill>
              </a:rPr>
              <a:t>?</a:t>
            </a:r>
            <a:endParaRPr lang="en-US" altLang="ko-KR" sz="5400" b="1">
              <a:solidFill>
                <a:srgbClr val="ff0000"/>
              </a:solidFill>
            </a:endParaRPr>
          </a:p>
        </p:txBody>
      </p:sp>
      <p:sp>
        <p:nvSpPr>
          <p:cNvPr id="8" name="가로 글상자 7"/>
          <p:cNvSpPr txBox="1"/>
          <p:nvPr/>
        </p:nvSpPr>
        <p:spPr>
          <a:xfrm flipH="1">
            <a:off x="3665934" y="1995248"/>
            <a:ext cx="6943726" cy="872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5100" b="1"/>
              <a:t>예측값이 </a:t>
            </a:r>
            <a:r>
              <a:rPr lang="en-US" altLang="ko-KR" sz="5100" b="1"/>
              <a:t>‘</a:t>
            </a:r>
            <a:r>
              <a:rPr lang="ko-KR" altLang="en-US" sz="5100" b="1"/>
              <a:t>수치형</a:t>
            </a:r>
            <a:r>
              <a:rPr lang="en-US" altLang="ko-KR" sz="5100" b="1"/>
              <a:t>’</a:t>
            </a:r>
            <a:r>
              <a:rPr lang="ko-KR" altLang="en-US" sz="5100" b="1"/>
              <a:t> 일 때</a:t>
            </a:r>
            <a:endParaRPr lang="ko-KR" altLang="en-US" sz="5100" b="1"/>
          </a:p>
        </p:txBody>
      </p:sp>
      <p:sp>
        <p:nvSpPr>
          <p:cNvPr id="11" name="가로 글상자 10"/>
          <p:cNvSpPr txBox="1"/>
          <p:nvPr/>
        </p:nvSpPr>
        <p:spPr>
          <a:xfrm flipH="1">
            <a:off x="3665934" y="3712130"/>
            <a:ext cx="6943726" cy="872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5100" b="1"/>
              <a:t>예측값이 </a:t>
            </a:r>
            <a:r>
              <a:rPr lang="en-US" altLang="ko-KR" sz="5100" b="1"/>
              <a:t>‘</a:t>
            </a:r>
            <a:r>
              <a:rPr lang="ko-KR" altLang="en-US" sz="5100" b="1"/>
              <a:t>범주형</a:t>
            </a:r>
            <a:r>
              <a:rPr lang="en-US" altLang="ko-KR" sz="5100" b="1"/>
              <a:t>’</a:t>
            </a:r>
            <a:r>
              <a:rPr lang="ko-KR" altLang="en-US" sz="5100" b="1"/>
              <a:t> 일 때</a:t>
            </a:r>
            <a:endParaRPr lang="ko-KR" altLang="en-US" sz="5100" b="1"/>
          </a:p>
        </p:txBody>
      </p:sp>
    </p:spTree>
    <p:extLst>
      <p:ext uri="{BB962C8B-B14F-4D97-AF65-F5344CB8AC3E}">
        <p14:creationId xmlns:p14="http://schemas.microsoft.com/office/powerpoint/2010/main" val="228960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1" animBg="1"/>
    </p:bldLst>
  </p:timing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가로 글상자 9"/>
          <p:cNvSpPr txBox="1"/>
          <p:nvPr/>
        </p:nvSpPr>
        <p:spPr>
          <a:xfrm flipH="1">
            <a:off x="987028" y="1935717"/>
            <a:ext cx="10670380" cy="242482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5100" b="1"/>
              <a:t>Q1. </a:t>
            </a:r>
            <a:r>
              <a:rPr lang="ko-KR" altLang="en-US" sz="5100" b="1"/>
              <a:t> </a:t>
            </a:r>
            <a:r>
              <a:rPr lang="en-US" altLang="ko-KR" sz="5100" b="1"/>
              <a:t>OTT</a:t>
            </a:r>
            <a:r>
              <a:rPr lang="ko-KR" altLang="en-US" sz="5100" b="1"/>
              <a:t> 관련 고객 데이터를 </a:t>
            </a:r>
            <a:endParaRPr lang="ko-KR" altLang="en-US" sz="5100" b="1"/>
          </a:p>
          <a:p>
            <a:pPr lvl="0">
              <a:defRPr/>
            </a:pPr>
            <a:r>
              <a:rPr lang="ko-KR" altLang="en-US" sz="5100" b="1"/>
              <a:t>기반으로 </a:t>
            </a:r>
            <a:r>
              <a:rPr lang="en-US" altLang="ko-KR" sz="5100" b="1"/>
              <a:t>‘</a:t>
            </a:r>
            <a:r>
              <a:rPr lang="ko-KR" altLang="en-US" sz="5100" b="1"/>
              <a:t>호러</a:t>
            </a:r>
            <a:r>
              <a:rPr lang="en-US" altLang="ko-KR" sz="5100" b="1"/>
              <a:t>’</a:t>
            </a:r>
            <a:r>
              <a:rPr lang="ko-KR" altLang="en-US" sz="5100" b="1"/>
              <a:t> 장르에 대한 고객의 선호여부를 예측해보자</a:t>
            </a:r>
            <a:r>
              <a:rPr lang="en-US" altLang="ko-KR" sz="5100" b="1"/>
              <a:t>.</a:t>
            </a:r>
            <a:endParaRPr lang="en-US" altLang="ko-KR" sz="5100" b="1"/>
          </a:p>
        </p:txBody>
      </p:sp>
      <p:sp>
        <p:nvSpPr>
          <p:cNvPr id="12" name="가로 글상자 11"/>
          <p:cNvSpPr txBox="1"/>
          <p:nvPr/>
        </p:nvSpPr>
        <p:spPr>
          <a:xfrm flipH="1">
            <a:off x="4125517" y="4850368"/>
            <a:ext cx="3026569" cy="910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>
                <a:solidFill>
                  <a:srgbClr val="ff0000"/>
                </a:solidFill>
              </a:rPr>
              <a:t>-&gt;  </a:t>
            </a:r>
            <a:r>
              <a:rPr lang="ko-KR" altLang="en-US" sz="5400" b="1">
                <a:solidFill>
                  <a:srgbClr val="ff0000"/>
                </a:solidFill>
              </a:rPr>
              <a:t>분류</a:t>
            </a:r>
            <a:endParaRPr lang="ko-KR" altLang="en-US" sz="54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34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가로 글상자 11"/>
          <p:cNvSpPr txBox="1"/>
          <p:nvPr/>
        </p:nvSpPr>
        <p:spPr>
          <a:xfrm flipH="1">
            <a:off x="987028" y="1935717"/>
            <a:ext cx="11204972" cy="1672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200" b="1"/>
              <a:t>Q2. </a:t>
            </a:r>
            <a:r>
              <a:rPr lang="ko-KR" altLang="en-US" sz="5200" b="1"/>
              <a:t>과거 휴대폰 사용요금을 학습해 </a:t>
            </a:r>
            <a:endParaRPr lang="ko-KR" altLang="en-US" sz="5200" b="1"/>
          </a:p>
          <a:p>
            <a:pPr lvl="0">
              <a:defRPr/>
            </a:pPr>
            <a:r>
              <a:rPr lang="ko-KR" altLang="en-US" sz="5200" b="1"/>
              <a:t>다음달 납부예정금액을 예측해보자</a:t>
            </a:r>
            <a:r>
              <a:rPr lang="en-US" altLang="ko-KR" sz="5200" b="1"/>
              <a:t>.</a:t>
            </a:r>
            <a:endParaRPr lang="en-US" altLang="ko-KR" sz="5200" b="1"/>
          </a:p>
        </p:txBody>
      </p:sp>
      <p:sp>
        <p:nvSpPr>
          <p:cNvPr id="13" name="가로 글상자 12"/>
          <p:cNvSpPr txBox="1"/>
          <p:nvPr/>
        </p:nvSpPr>
        <p:spPr>
          <a:xfrm flipH="1">
            <a:off x="4125517" y="4850368"/>
            <a:ext cx="3026569" cy="910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>
                <a:solidFill>
                  <a:srgbClr val="ff0000"/>
                </a:solidFill>
              </a:rPr>
              <a:t>-&gt;  </a:t>
            </a:r>
            <a:r>
              <a:rPr lang="ko-KR" altLang="en-US" sz="5400" b="1">
                <a:solidFill>
                  <a:srgbClr val="ff0000"/>
                </a:solidFill>
              </a:rPr>
              <a:t>회귀</a:t>
            </a:r>
            <a:endParaRPr lang="ko-KR" altLang="en-US" sz="54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071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타원 5"/>
          <p:cNvSpPr/>
          <p:nvPr/>
        </p:nvSpPr>
        <p:spPr>
          <a:xfrm>
            <a:off x="928687" y="2393155"/>
            <a:ext cx="2414588" cy="2414588"/>
          </a:xfrm>
          <a:prstGeom prst="ellipse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 sz="3000" b="1">
                <a:solidFill>
                  <a:schemeClr val="tx1"/>
                </a:solidFill>
              </a:rPr>
              <a:t>데이터 </a:t>
            </a:r>
            <a:endParaRPr lang="ko-KR" altLang="en-US" sz="3000" b="1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ko-KR" altLang="en-US" sz="3000" b="1">
                <a:solidFill>
                  <a:schemeClr val="tx1"/>
                </a:solidFill>
              </a:rPr>
              <a:t>확인 </a:t>
            </a:r>
            <a:endParaRPr lang="en-US" altLang="ko-KR" sz="3000" b="1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3514724" y="2393155"/>
            <a:ext cx="2414588" cy="2414588"/>
          </a:xfrm>
          <a:prstGeom prst="ellipse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3000" b="1">
                <a:solidFill>
                  <a:schemeClr val="tx1"/>
                </a:solidFill>
              </a:rPr>
              <a:t>데이터 </a:t>
            </a:r>
            <a:endParaRPr lang="ko-KR" altLang="en-US" sz="3000" b="1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ko-KR" altLang="en-US" sz="3000" b="1">
                <a:solidFill>
                  <a:schemeClr val="tx1"/>
                </a:solidFill>
              </a:rPr>
              <a:t>전처리</a:t>
            </a:r>
            <a:endParaRPr lang="ko-KR" altLang="en-US" sz="3000" b="1">
              <a:solidFill>
                <a:schemeClr val="tx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6096000" y="2393155"/>
            <a:ext cx="2414588" cy="2414588"/>
          </a:xfrm>
          <a:prstGeom prst="ellipse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3000" b="1">
                <a:solidFill>
                  <a:schemeClr val="tx1"/>
                </a:solidFill>
              </a:rPr>
              <a:t>모델링</a:t>
            </a:r>
            <a:endParaRPr lang="en-US" altLang="ko-KR" sz="3000" b="1">
              <a:solidFill>
                <a:schemeClr val="tx1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8677274" y="2393155"/>
            <a:ext cx="2509837" cy="2414588"/>
          </a:xfrm>
          <a:prstGeom prst="ellipse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3000" b="1">
                <a:solidFill>
                  <a:schemeClr val="tx1"/>
                </a:solidFill>
              </a:rPr>
              <a:t>성능평가</a:t>
            </a:r>
            <a:endParaRPr lang="ko-KR" altLang="en-US" sz="3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683174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524249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47281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46</ep:Words>
  <ep:PresentationFormat>화면 슬라이드 쇼(4:3)</ep:PresentationFormat>
  <ep:Paragraphs>19</ep:Paragraphs>
  <ep:Slides>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2025-05-26T14:38:05.952</dcterms:created>
  <dc:creator>HY</dc:creator>
  <cp:lastModifiedBy>HY</cp:lastModifiedBy>
  <dcterms:modified xsi:type="dcterms:W3CDTF">2025-05-26T16:01:46.584</dcterms:modified>
  <cp:revision>10</cp:revision>
  <cp:version>12.0.0.3747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