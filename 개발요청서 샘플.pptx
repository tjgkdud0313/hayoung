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7F007-0101-4C7C-927D-842D102DE9E5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9FC-98C7-47E4-B6BA-65E001340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56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7F007-0101-4C7C-927D-842D102DE9E5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9FC-98C7-47E4-B6BA-65E001340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62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7F007-0101-4C7C-927D-842D102DE9E5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9FC-98C7-47E4-B6BA-65E001340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78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7F007-0101-4C7C-927D-842D102DE9E5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9FC-98C7-47E4-B6BA-65E001340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243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7F007-0101-4C7C-927D-842D102DE9E5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9FC-98C7-47E4-B6BA-65E001340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802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7F007-0101-4C7C-927D-842D102DE9E5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9FC-98C7-47E4-B6BA-65E001340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517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7F007-0101-4C7C-927D-842D102DE9E5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9FC-98C7-47E4-B6BA-65E001340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425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7F007-0101-4C7C-927D-842D102DE9E5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9FC-98C7-47E4-B6BA-65E001340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885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7F007-0101-4C7C-927D-842D102DE9E5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9FC-98C7-47E4-B6BA-65E001340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653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7F007-0101-4C7C-927D-842D102DE9E5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9FC-98C7-47E4-B6BA-65E001340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639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7F007-0101-4C7C-927D-842D102DE9E5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9FC-98C7-47E4-B6BA-65E001340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176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그룹 240"/>
          <p:cNvGrpSpPr/>
          <p:nvPr userDrawn="1"/>
        </p:nvGrpSpPr>
        <p:grpSpPr>
          <a:xfrm>
            <a:off x="0" y="942109"/>
            <a:ext cx="12192000" cy="5723512"/>
            <a:chOff x="581668" y="769646"/>
            <a:chExt cx="11210282" cy="5895975"/>
          </a:xfrm>
        </p:grpSpPr>
        <p:cxnSp>
          <p:nvCxnSpPr>
            <p:cNvPr id="228" name="직선 연결선 227"/>
            <p:cNvCxnSpPr/>
            <p:nvPr userDrawn="1"/>
          </p:nvCxnSpPr>
          <p:spPr>
            <a:xfrm>
              <a:off x="581668" y="769646"/>
              <a:ext cx="11210282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직선 연결선 237"/>
            <p:cNvCxnSpPr/>
            <p:nvPr userDrawn="1"/>
          </p:nvCxnSpPr>
          <p:spPr>
            <a:xfrm>
              <a:off x="581668" y="6665621"/>
              <a:ext cx="11210282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직선 연결선 238"/>
            <p:cNvCxnSpPr/>
            <p:nvPr userDrawn="1"/>
          </p:nvCxnSpPr>
          <p:spPr>
            <a:xfrm>
              <a:off x="8834759" y="769646"/>
              <a:ext cx="0" cy="5895975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표 10"/>
          <p:cNvGraphicFramePr>
            <a:graphicFrameLocks noGrp="1"/>
          </p:cNvGraphicFramePr>
          <p:nvPr userDrawn="1">
            <p:extLst/>
          </p:nvPr>
        </p:nvGraphicFramePr>
        <p:xfrm>
          <a:off x="2" y="698269"/>
          <a:ext cx="8975839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28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화면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ID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200" dirty="0">
                        <a:solidFill>
                          <a:schemeClr val="tx1"/>
                        </a:solidFill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화면명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200" dirty="0">
                        <a:solidFill>
                          <a:schemeClr val="tx1"/>
                        </a:solidFill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 userDrawn="1">
            <p:extLst/>
          </p:nvPr>
        </p:nvGraphicFramePr>
        <p:xfrm>
          <a:off x="-1" y="1"/>
          <a:ext cx="12192002" cy="699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4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99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화면경로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Pretendard Medium" panose="02000603000000020004" pitchFamily="2" charset="-127"/>
                        <a:ea typeface="Pretendard Medium" panose="02000603000000020004" pitchFamily="2" charset="-127"/>
                        <a:cs typeface="Pretendard Medium" panose="020006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Pretendard Medium" panose="02000603000000020004" pitchFamily="2" charset="-127"/>
                        <a:ea typeface="Pretendard Medium" panose="02000603000000020004" pitchFamily="2" charset="-127"/>
                      </a:endParaRPr>
                    </a:p>
                  </a:txBody>
                  <a:tcPr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 userDrawn="1"/>
        </p:nvSpPr>
        <p:spPr>
          <a:xfrm>
            <a:off x="8975839" y="699248"/>
            <a:ext cx="3216161" cy="242862"/>
          </a:xfrm>
          <a:prstGeom prst="rect">
            <a:avLst/>
          </a:prstGeom>
          <a:solidFill>
            <a:srgbClr val="FF571F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latin typeface="Pretendard Medium" panose="02000603000000020004" pitchFamily="2" charset="-127"/>
                <a:ea typeface="Pretendard Medium" panose="02000603000000020004" pitchFamily="2" charset="-127"/>
              </a:rPr>
              <a:t>Description</a:t>
            </a:r>
            <a:endParaRPr lang="ko-KR" altLang="en-US" sz="10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707586" y="6612586"/>
            <a:ext cx="484414" cy="298450"/>
          </a:xfrm>
        </p:spPr>
        <p:txBody>
          <a:bodyPr/>
          <a:lstStyle>
            <a:lvl1pPr>
              <a:defRPr lang="ko-KR" altLang="en-US" smtClean="0"/>
            </a:lvl1pPr>
          </a:lstStyle>
          <a:p>
            <a:fld id="{B37D9FEB-C5B7-4C5D-BA12-F2FC98EEE988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4" y="6687602"/>
            <a:ext cx="898570" cy="16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9296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7F007-0101-4C7C-927D-842D102DE9E5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459FC-98C7-47E4-B6BA-65E001340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26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703512" y="191683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ko-KR" sz="4400" dirty="0" smtClean="0">
                <a:solidFill>
                  <a:schemeClr val="bg2">
                    <a:lumMod val="25000"/>
                  </a:schemeClr>
                </a:solidFill>
                <a:latin typeface="오케이체 Light" panose="02020603020101020101" pitchFamily="18" charset="-127"/>
                <a:ea typeface="오케이체 Light" panose="02020603020101020101" pitchFamily="18" charset="-127"/>
              </a:rPr>
              <a:t/>
            </a:r>
            <a:br>
              <a:rPr lang="en-US" altLang="ko-KR" sz="4400" dirty="0" smtClean="0">
                <a:solidFill>
                  <a:schemeClr val="bg2">
                    <a:lumMod val="25000"/>
                  </a:schemeClr>
                </a:solidFill>
                <a:latin typeface="오케이체 Light" panose="02020603020101020101" pitchFamily="18" charset="-127"/>
                <a:ea typeface="오케이체 Light" panose="02020603020101020101" pitchFamily="18" charset="-127"/>
              </a:rPr>
            </a:br>
            <a:r>
              <a:rPr lang="en-US" altLang="ko-KR" sz="4400" dirty="0">
                <a:solidFill>
                  <a:schemeClr val="bg2">
                    <a:lumMod val="25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</a:t>
            </a:r>
            <a:r>
              <a:rPr lang="ko-KR" altLang="en-US" sz="4400" dirty="0">
                <a:solidFill>
                  <a:schemeClr val="bg2">
                    <a:lumMod val="25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이기종</a:t>
            </a:r>
            <a:r>
              <a:rPr lang="en-US" altLang="ko-KR" sz="4400" dirty="0">
                <a:solidFill>
                  <a:schemeClr val="bg2">
                    <a:lumMod val="25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  <a:r>
              <a:rPr lang="ko-KR" altLang="en-US" sz="4400" dirty="0">
                <a:solidFill>
                  <a:schemeClr val="bg2">
                    <a:lumMod val="25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압류금지 </a:t>
            </a:r>
            <a:r>
              <a:rPr lang="ko-KR" altLang="en-US" sz="4400" dirty="0" err="1" smtClean="0">
                <a:solidFill>
                  <a:schemeClr val="bg2">
                    <a:lumMod val="25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생계비계좌</a:t>
            </a:r>
            <a:r>
              <a:rPr lang="en-US" altLang="ko-KR" sz="4400" dirty="0" smtClean="0">
                <a:solidFill>
                  <a:schemeClr val="bg2">
                    <a:lumMod val="25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sz="4400" dirty="0" smtClean="0">
                <a:solidFill>
                  <a:schemeClr val="bg2">
                    <a:lumMod val="25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개설해지정보 </a:t>
            </a:r>
            <a:r>
              <a:rPr lang="ko-KR" altLang="en-US" sz="4400" dirty="0">
                <a:solidFill>
                  <a:schemeClr val="bg2">
                    <a:lumMod val="25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온라인 조회 요청 </a:t>
            </a:r>
            <a:br>
              <a:rPr lang="ko-KR" altLang="en-US" sz="4400" dirty="0">
                <a:solidFill>
                  <a:schemeClr val="bg2">
                    <a:lumMod val="25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</a:br>
            <a:endParaRPr lang="ko-KR" altLang="en-US" sz="4400" dirty="0">
              <a:solidFill>
                <a:schemeClr val="bg2">
                  <a:lumMod val="25000"/>
                </a:schemeClr>
              </a:solidFill>
              <a:latin typeface="오케이체 Light" panose="02020603020101020101" pitchFamily="18" charset="-127"/>
              <a:ea typeface="오케이체 Light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AA21-B44F-454D-B7D7-194B65EA9D2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44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꺾인 연결선 59"/>
          <p:cNvCxnSpPr>
            <a:stCxn id="50" idx="2"/>
          </p:cNvCxnSpPr>
          <p:nvPr/>
        </p:nvCxnSpPr>
        <p:spPr>
          <a:xfrm rot="16200000" flipH="1">
            <a:off x="4270729" y="2459517"/>
            <a:ext cx="512047" cy="5036771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9FEB-C5B7-4C5D-BA12-F2FC98EEE988}" type="slidenum">
              <a:rPr lang="en-US" altLang="ko-KR" smtClean="0"/>
              <a:pPr/>
              <a:t>2</a:t>
            </a:fld>
            <a:endParaRPr 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8976320" y="944724"/>
          <a:ext cx="3215680" cy="3575288"/>
        </p:xfrm>
        <a:graphic>
          <a:graphicData uri="http://schemas.openxmlformats.org/drawingml/2006/table">
            <a:tbl>
              <a:tblPr firstRow="1" bandRow="1"/>
              <a:tblGrid>
                <a:gridCol w="216024">
                  <a:extLst>
                    <a:ext uri="{9D8B030D-6E8A-4147-A177-3AD203B41FA5}">
                      <a16:colId xmlns:a16="http://schemas.microsoft.com/office/drawing/2014/main" val="3232395922"/>
                    </a:ext>
                  </a:extLst>
                </a:gridCol>
                <a:gridCol w="2999656">
                  <a:extLst>
                    <a:ext uri="{9D8B030D-6E8A-4147-A177-3AD203B41FA5}">
                      <a16:colId xmlns:a16="http://schemas.microsoft.com/office/drawing/2014/main" val="62243123"/>
                    </a:ext>
                  </a:extLst>
                </a:gridCol>
              </a:tblGrid>
              <a:tr h="11521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1</a:t>
                      </a:r>
                      <a:endParaRPr lang="ko-KR" altLang="en-US" sz="900" dirty="0">
                        <a:latin typeface="오케이체 Light" panose="02020603020101020101" pitchFamily="18" charset="-127"/>
                        <a:ea typeface="오케이체 Light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1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· </a:t>
                      </a:r>
                      <a:r>
                        <a:rPr lang="ko-KR" altLang="en-US" sz="900" b="1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문제</a:t>
                      </a:r>
                      <a:r>
                        <a:rPr lang="en-US" altLang="ko-KR" sz="900" b="1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 </a:t>
                      </a:r>
                      <a:r>
                        <a:rPr lang="ko-KR" altLang="en-US" sz="900" b="1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상황 </a:t>
                      </a:r>
                      <a:endParaRPr lang="en-US" altLang="ko-KR" sz="900" b="1" baseline="0" dirty="0" smtClean="0">
                        <a:latin typeface="오케이체 Light" panose="02020603020101020101" pitchFamily="18" charset="-127"/>
                        <a:ea typeface="오케이체 Light" panose="02020603020101020101" pitchFamily="18" charset="-127"/>
                      </a:endParaRPr>
                    </a:p>
                    <a:p>
                      <a:pPr marL="0" marR="0" lvl="0" indent="0" algn="l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aseline="0" dirty="0" smtClean="0">
                        <a:latin typeface="오케이체 Light" panose="02020603020101020101" pitchFamily="18" charset="-127"/>
                        <a:ea typeface="오케이체 Light" panose="02020603020101020101" pitchFamily="18" charset="-127"/>
                      </a:endParaRPr>
                    </a:p>
                    <a:p>
                      <a:pPr marL="0" marR="0" lvl="0" indent="0" algn="l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-  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UNIS 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상에 등록된 계좌가 압류금지 생계비계좌일 경우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250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만원 이상 입금이 불가 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(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잔액 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250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만원 초과 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x)</a:t>
                      </a:r>
                    </a:p>
                    <a:p>
                      <a:pPr marL="0" marR="0" lvl="0" indent="0" algn="l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  <a:p>
                      <a:pPr marL="0" marR="0" lvl="0" indent="0" algn="l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- 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따라서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 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송금액의 일부가 불명예금으로 반환되는 오류 발생</a:t>
                      </a:r>
                      <a:endParaRPr lang="en-US" altLang="ko-KR" sz="900" b="0" baseline="0" dirty="0" smtClean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65037"/>
                  </a:ext>
                </a:extLst>
              </a:tr>
              <a:tr h="16127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2</a:t>
                      </a:r>
                      <a:endParaRPr lang="ko-KR" altLang="en-US" sz="900" dirty="0">
                        <a:latin typeface="오케이체 Light" panose="02020603020101020101" pitchFamily="18" charset="-127"/>
                        <a:ea typeface="오케이체 Light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900" b="1" dirty="0" smtClean="0">
                        <a:latin typeface="오케이체 Light" panose="02020603020101020101" pitchFamily="18" charset="-127"/>
                        <a:ea typeface="오케이체 Light" panose="02020603020101020101" pitchFamily="18" charset="-127"/>
                      </a:endParaRPr>
                    </a:p>
                    <a:p>
                      <a:pPr algn="l" latinLnBrk="1"/>
                      <a:r>
                        <a:rPr lang="en-US" altLang="ko-KR" sz="900" b="1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· </a:t>
                      </a:r>
                      <a:r>
                        <a:rPr lang="ko-KR" altLang="en-US" sz="900" b="1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변경 사항 </a:t>
                      </a:r>
                      <a:endParaRPr lang="en-US" altLang="ko-KR" sz="900" b="1" baseline="0" dirty="0" smtClean="0">
                        <a:latin typeface="오케이체 Light" panose="02020603020101020101" pitchFamily="18" charset="-127"/>
                        <a:ea typeface="오케이체 Light" panose="02020603020101020101" pitchFamily="18" charset="-127"/>
                      </a:endParaRPr>
                    </a:p>
                    <a:p>
                      <a:pPr algn="l" latinLnBrk="1"/>
                      <a:endParaRPr lang="en-US" altLang="ko-KR" sz="900" baseline="0" dirty="0" smtClean="0">
                        <a:latin typeface="오케이체 Light" panose="02020603020101020101" pitchFamily="18" charset="-127"/>
                        <a:ea typeface="오케이체 Light" panose="02020603020101020101" pitchFamily="18" charset="-127"/>
                      </a:endParaRPr>
                    </a:p>
                    <a:p>
                      <a:pPr marL="0" marR="0" lvl="0" indent="0" algn="l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 - 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이런 상황을 방지하고자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 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계좌 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인증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] 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버튼 클릭 시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</a:p>
                    <a:p>
                      <a:pPr marL="0" marR="0" lvl="0" indent="0" algn="l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   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신정원 </a:t>
                      </a:r>
                      <a:r>
                        <a:rPr lang="ko-KR" altLang="en-US" sz="900" b="0" baseline="0" dirty="0" err="1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이기종전문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호출하여</a:t>
                      </a:r>
                      <a:endParaRPr lang="en-US" altLang="ko-KR" sz="900" b="0" baseline="0" dirty="0" smtClean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  <a:p>
                      <a:pPr marL="0" marR="0" lvl="0" indent="0" algn="l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  <a:p>
                      <a:pPr marL="0" marR="0" lvl="0" indent="0" algn="l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(1) 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계좌 </a:t>
                      </a:r>
                      <a:r>
                        <a:rPr lang="ko-KR" altLang="en-US" sz="900" b="0" baseline="0" dirty="0" err="1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인증이랑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[</a:t>
                      </a:r>
                      <a:r>
                        <a:rPr lang="ko-KR" altLang="en-US" sz="900" b="0" baseline="0" dirty="0" err="1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기존로직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] </a:t>
                      </a:r>
                    </a:p>
                    <a:p>
                      <a:pPr marL="0" marR="0" lvl="0" indent="0" algn="l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1" u="none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(2) </a:t>
                      </a:r>
                      <a:r>
                        <a:rPr lang="ko-KR" altLang="en-US" sz="900" b="1" u="sng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해당 계좌가 압류금지</a:t>
                      </a:r>
                      <a:r>
                        <a:rPr lang="en-US" altLang="ko-KR" sz="900" b="1" u="sng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  <a:r>
                        <a:rPr lang="ko-KR" altLang="en-US" sz="900" b="1" u="sng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생계비계좌인지 확인 </a:t>
                      </a:r>
                      <a:r>
                        <a:rPr lang="en-US" altLang="ko-KR" sz="900" b="1" u="sng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[</a:t>
                      </a:r>
                      <a:r>
                        <a:rPr lang="ko-KR" altLang="en-US" sz="900" b="1" u="sng" baseline="0" dirty="0" err="1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신규로직</a:t>
                      </a:r>
                      <a:r>
                        <a:rPr lang="en-US" altLang="ko-KR" sz="900" b="1" u="sng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] </a:t>
                      </a:r>
                    </a:p>
                    <a:p>
                      <a:pPr marL="0" marR="0" lvl="0" indent="0" algn="l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  <a:endParaRPr lang="en-US" altLang="ko-KR" sz="900" b="0" baseline="0" dirty="0" smtClean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  <a:p>
                      <a:pPr marL="0" marR="0" lvl="0" indent="0" algn="l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- 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이렇게 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2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가지의 기능이 동시에 실행되도록 </a:t>
                      </a:r>
                      <a:r>
                        <a:rPr lang="ko-KR" altLang="en-US" sz="900" b="0" baseline="0" dirty="0" err="1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로직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추가 </a:t>
                      </a:r>
                      <a:endParaRPr lang="en-US" altLang="ko-KR" sz="900" b="0" baseline="0" dirty="0" smtClean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  <a:p>
                      <a:pPr marL="0" marR="0" lvl="0" indent="0" algn="l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  <a:p>
                      <a:pPr marL="0" marR="0" lvl="0" indent="0" algn="l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  <a:p>
                      <a:pPr marL="228600" marR="0" lvl="0" indent="-228600" algn="l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arenBoth"/>
                        <a:tabLst/>
                        <a:defRPr/>
                      </a:pPr>
                      <a:r>
                        <a:rPr lang="ko-KR" altLang="en-US" sz="900" b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생계비계좌일 경우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  <a:r>
                        <a:rPr lang="en-US" altLang="ko-KR" sz="900" b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ALERT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팝업이 뜨며 새로운 계좌 입력할 수 있게끔 리셋 </a:t>
                      </a:r>
                      <a:endParaRPr lang="en-US" altLang="ko-KR" sz="900" b="0" baseline="0" dirty="0" smtClean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  <a:p>
                      <a:pPr marL="228600" marR="0" lvl="0" indent="-228600" algn="l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arenBoth"/>
                        <a:tabLst/>
                        <a:defRPr/>
                      </a:pP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생계비계좌가 아닐 경우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대출 지급 버튼 클릭 시 정상적으로 계좌 인증 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[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완료</a:t>
                      </a:r>
                      <a:r>
                        <a:rPr lang="en-US" altLang="ko-KR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]</a:t>
                      </a:r>
                      <a:r>
                        <a:rPr lang="ko-KR" altLang="en-US" sz="900" b="0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상태로 변경 </a:t>
                      </a:r>
                      <a:endParaRPr lang="ko-KR" altLang="en-US" sz="900" b="0" dirty="0" smtClean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  <a:p>
                      <a:pPr marL="0" marR="0" lvl="0" indent="0" algn="l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19949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4723" y="704800"/>
            <a:ext cx="2232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latin typeface="오케이체 Light" panose="02020603020101020101" pitchFamily="18" charset="-127"/>
                <a:ea typeface="오케이체 Light" panose="02020603020101020101" pitchFamily="18" charset="-127"/>
              </a:rPr>
              <a:t>대출 실행</a:t>
            </a:r>
            <a:endParaRPr lang="ko-KR" altLang="en-US" sz="1050" dirty="0">
              <a:latin typeface="오케이체 Light" panose="02020603020101020101" pitchFamily="18" charset="-127"/>
              <a:ea typeface="오케이체 Light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1444" y="692696"/>
            <a:ext cx="2232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>
                <a:latin typeface="오케이체 Light" panose="02020603020101020101" pitchFamily="18" charset="-127"/>
                <a:ea typeface="오케이체 Light" panose="02020603020101020101" pitchFamily="18" charset="-127"/>
              </a:rPr>
              <a:t>UCBSLNFA01M00	</a:t>
            </a:r>
            <a:endParaRPr lang="ko-KR" altLang="en-US" sz="1050" dirty="0">
              <a:latin typeface="오케이체 Light" panose="02020603020101020101" pitchFamily="18" charset="-127"/>
              <a:ea typeface="오케이체 Light" panose="02020603020101020101" pitchFamily="18" charset="-127"/>
            </a:endParaRPr>
          </a:p>
        </p:txBody>
      </p:sp>
      <p:sp>
        <p:nvSpPr>
          <p:cNvPr id="8" name="순서도: 수행의 시작/종료 7"/>
          <p:cNvSpPr/>
          <p:nvPr/>
        </p:nvSpPr>
        <p:spPr>
          <a:xfrm>
            <a:off x="354507" y="2440379"/>
            <a:ext cx="837128" cy="216024"/>
          </a:xfrm>
          <a:prstGeom prst="flowChartTerminator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변경 전 </a:t>
            </a:r>
            <a:endParaRPr lang="ko-KR" altLang="en-US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cxnSp>
        <p:nvCxnSpPr>
          <p:cNvPr id="13" name="직선 화살표 연결선 12"/>
          <p:cNvCxnSpPr>
            <a:stCxn id="16" idx="3"/>
            <a:endCxn id="35" idx="1"/>
          </p:cNvCxnSpPr>
          <p:nvPr/>
        </p:nvCxnSpPr>
        <p:spPr bwMode="auto">
          <a:xfrm flipV="1">
            <a:off x="2642631" y="2230554"/>
            <a:ext cx="4388576" cy="91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5" name="그룹 14"/>
          <p:cNvGrpSpPr/>
          <p:nvPr/>
        </p:nvGrpSpPr>
        <p:grpSpPr>
          <a:xfrm>
            <a:off x="1388328" y="2121727"/>
            <a:ext cx="1254304" cy="923346"/>
            <a:chOff x="2116885" y="4736025"/>
            <a:chExt cx="1060759" cy="709187"/>
          </a:xfrm>
        </p:grpSpPr>
        <p:sp>
          <p:nvSpPr>
            <p:cNvPr id="16" name="직사각형 15"/>
            <p:cNvSpPr/>
            <p:nvPr/>
          </p:nvSpPr>
          <p:spPr>
            <a:xfrm>
              <a:off x="2116885" y="4736025"/>
              <a:ext cx="1060758" cy="1812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UNIS</a:t>
              </a:r>
              <a:endParaRPr lang="ko-KR" altLang="en-US" sz="1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2116886" y="4917258"/>
              <a:ext cx="1060758" cy="5279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ko-KR" altLang="en-US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지점 담당자</a:t>
              </a:r>
              <a:endParaRPr lang="en-US" altLang="ko-KR" sz="1000" dirty="0" smtClean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algn="ctr"/>
              <a:r>
                <a:rPr lang="ko-KR" altLang="en-US" sz="1000" dirty="0" err="1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대출실행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 화면의</a:t>
              </a:r>
              <a:endParaRPr lang="en-US" altLang="ko-KR" sz="1000" dirty="0" smtClean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algn="ctr"/>
              <a:r>
                <a:rPr lang="ko-KR" altLang="en-US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계좌 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[</a:t>
              </a:r>
              <a:r>
                <a:rPr lang="ko-KR" altLang="en-US" sz="1000" b="1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인증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]</a:t>
              </a:r>
              <a:r>
                <a:rPr lang="ko-KR" altLang="en-US" sz="1000" b="1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버튼 클릭</a:t>
              </a:r>
              <a:endParaRPr lang="en-US" altLang="ko-KR" sz="1000" dirty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7031207" y="2112574"/>
            <a:ext cx="1254796" cy="923347"/>
            <a:chOff x="2116885" y="4736025"/>
            <a:chExt cx="1060758" cy="709187"/>
          </a:xfrm>
        </p:grpSpPr>
        <p:sp>
          <p:nvSpPr>
            <p:cNvPr id="35" name="직사각형 34"/>
            <p:cNvSpPr/>
            <p:nvPr/>
          </p:nvSpPr>
          <p:spPr>
            <a:xfrm>
              <a:off x="2116885" y="4736025"/>
              <a:ext cx="1060758" cy="1812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UNIS</a:t>
              </a:r>
              <a:endParaRPr lang="ko-KR" altLang="en-US" sz="1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2116885" y="4917258"/>
              <a:ext cx="1060758" cy="5279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ko-KR" altLang="en-US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등록된 </a:t>
              </a:r>
              <a:r>
                <a:rPr lang="ko-KR" altLang="en-US" sz="1000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계좌번호로 </a:t>
              </a:r>
              <a:endParaRPr lang="en-US" altLang="ko-KR" sz="1000" dirty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인증 </a:t>
              </a:r>
              <a:r>
                <a:rPr lang="en-US" altLang="ko-KR" sz="1000" b="1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[</a:t>
              </a:r>
              <a:r>
                <a:rPr lang="ko-KR" altLang="en-US" sz="1000" b="1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완료</a:t>
              </a:r>
              <a:r>
                <a:rPr lang="en-US" altLang="ko-KR" sz="1000" b="1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상태 변화</a:t>
              </a:r>
              <a:endParaRPr lang="en-US" altLang="ko-KR" sz="1000" dirty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</p:grp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35A1EC25-21FE-4226-9CBF-77EEE0BF02F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0" y="11321"/>
          <a:ext cx="12191999" cy="690619"/>
        </p:xfrm>
        <a:graphic>
          <a:graphicData uri="http://schemas.openxmlformats.org/drawingml/2006/table">
            <a:tbl>
              <a:tblPr firstRow="1" bandRow="1"/>
              <a:tblGrid>
                <a:gridCol w="1055440">
                  <a:extLst>
                    <a:ext uri="{9D8B030D-6E8A-4147-A177-3AD203B41FA5}">
                      <a16:colId xmlns:a16="http://schemas.microsoft.com/office/drawing/2014/main" val="4019235557"/>
                    </a:ext>
                  </a:extLst>
                </a:gridCol>
                <a:gridCol w="7920880">
                  <a:extLst>
                    <a:ext uri="{9D8B030D-6E8A-4147-A177-3AD203B41FA5}">
                      <a16:colId xmlns:a16="http://schemas.microsoft.com/office/drawing/2014/main" val="3722217828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07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88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err="1" smtClean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과제명</a:t>
                      </a:r>
                      <a:endParaRPr lang="ko-KR" altLang="en-US" sz="1100" b="0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marL="74295" marR="74295" marT="37148" marB="37148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이기종</a:t>
                      </a:r>
                      <a:r>
                        <a:rPr lang="en-US" altLang="ko-KR" sz="100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)</a:t>
                      </a:r>
                      <a:r>
                        <a:rPr lang="ko-KR" altLang="en-US" sz="100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압류금지 </a:t>
                      </a:r>
                      <a:r>
                        <a:rPr lang="ko-KR" altLang="en-US" sz="1000" dirty="0" err="1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생계비계좌</a:t>
                      </a:r>
                      <a:r>
                        <a:rPr lang="en-US" altLang="ko-KR" sz="100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_</a:t>
                      </a:r>
                      <a:r>
                        <a:rPr lang="ko-KR" altLang="en-US" sz="100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개설해지정보 온라인 조회 요청</a:t>
                      </a:r>
                      <a:endParaRPr lang="ko-KR" altLang="en-US" sz="100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marL="74295" marR="74295" marT="37148" marB="37148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dirty="0" err="1" smtClean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요청부서</a:t>
                      </a:r>
                      <a:endParaRPr lang="ko-KR" altLang="en-US" sz="1100" b="0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OK</a:t>
                      </a:r>
                      <a:r>
                        <a:rPr lang="ko-KR" altLang="en-US" sz="1000" b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소비자금융기획팀</a:t>
                      </a:r>
                      <a:endParaRPr lang="ko-KR" altLang="en-US" sz="1000" b="0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777">
                <a:tc>
                  <a:txBody>
                    <a:bodyPr/>
                    <a:lstStyle>
                      <a:lvl1pPr marL="0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19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39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59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78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98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317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538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757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과제설명</a:t>
                      </a:r>
                      <a:endParaRPr lang="ko-KR" altLang="en-US" sz="1100" b="1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marL="74295" marR="74295" marT="37148" marB="37148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19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39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59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78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98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317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538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757" algn="l" defTabSz="914439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strike="noStrike" dirty="0" err="1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대출</a:t>
                      </a:r>
                      <a:r>
                        <a:rPr lang="ko-KR" altLang="en-US" sz="1000" b="0" strike="noStrike" baseline="0" dirty="0" err="1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실행</a:t>
                      </a:r>
                      <a:r>
                        <a:rPr lang="ko-KR" altLang="en-US" sz="1000" b="0" strike="noStrike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화면에서</a:t>
                      </a:r>
                      <a:r>
                        <a:rPr lang="en-US" altLang="ko-KR" sz="1000" b="0" strike="noStrike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  <a:r>
                        <a:rPr lang="ko-KR" altLang="en-US" sz="1000" b="0" strike="noStrike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계좌</a:t>
                      </a:r>
                      <a:r>
                        <a:rPr lang="en-US" altLang="ko-KR" sz="1000" b="0" strike="noStrike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[</a:t>
                      </a:r>
                      <a:r>
                        <a:rPr lang="ko-KR" altLang="en-US" sz="1000" b="0" strike="noStrike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인증</a:t>
                      </a:r>
                      <a:r>
                        <a:rPr lang="en-US" altLang="ko-KR" sz="1000" b="0" strike="noStrike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]</a:t>
                      </a:r>
                      <a:r>
                        <a:rPr lang="ko-KR" altLang="en-US" sz="1000" b="0" strike="noStrike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버튼 클릭 시</a:t>
                      </a:r>
                      <a:r>
                        <a:rPr lang="en-US" altLang="ko-KR" sz="1000" b="0" strike="noStrike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  <a:r>
                        <a:rPr lang="ko-KR" altLang="en-US" sz="1000" b="0" strike="noStrike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해당 계좌가</a:t>
                      </a:r>
                      <a:r>
                        <a:rPr lang="en-US" altLang="ko-KR" sz="1000" b="0" strike="noStrike" baseline="0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</a:t>
                      </a:r>
                      <a:r>
                        <a:rPr lang="ko-KR" altLang="en-US" sz="1000" b="0" strike="noStrike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압류금지 생계비계좌인지 확인하는 </a:t>
                      </a:r>
                      <a:r>
                        <a:rPr lang="ko-KR" altLang="en-US" sz="1000" b="0" strike="noStrike" dirty="0" err="1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로직</a:t>
                      </a:r>
                      <a:r>
                        <a:rPr lang="ko-KR" altLang="en-US" sz="1000" b="0" strike="noStrike" dirty="0" smtClean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 추가</a:t>
                      </a:r>
                      <a:endParaRPr lang="ko-KR" altLang="en-US" sz="1000" b="0" strike="noStrike" dirty="0"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</a:endParaRPr>
                    </a:p>
                  </a:txBody>
                  <a:tcPr marL="74295" marR="74295" marT="37148" marB="37148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  <a:cs typeface="Times New Roman" panose="02020603050405020304" pitchFamily="18" charset="0"/>
                        </a:rPr>
                        <a:t>요청자</a:t>
                      </a:r>
                      <a:endParaRPr kumimoji="0" lang="ko-KR" altLang="en-US" sz="11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3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  <a:cs typeface="Times New Roman" panose="02020603050405020304" pitchFamily="18" charset="0"/>
                        </a:rPr>
                        <a:t>서하영</a:t>
                      </a:r>
                      <a:endParaRPr kumimoji="0" lang="ko-KR" alt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라운드 Regular" panose="020B0600000101010101" pitchFamily="50" charset="-127"/>
                        <a:ea typeface="나눔스퀘어라운드 Regular" panose="020B0600000101010101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74295" marR="74295" marT="37148" marB="37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297805"/>
                  </a:ext>
                </a:extLst>
              </a:tr>
            </a:tbl>
          </a:graphicData>
        </a:graphic>
      </p:graphicFrame>
      <p:sp>
        <p:nvSpPr>
          <p:cNvPr id="44" name="순서도: 수행의 시작/종료 43"/>
          <p:cNvSpPr/>
          <p:nvPr/>
        </p:nvSpPr>
        <p:spPr>
          <a:xfrm>
            <a:off x="354738" y="3811587"/>
            <a:ext cx="837128" cy="216024"/>
          </a:xfrm>
          <a:prstGeom prst="flowChartTerminator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변경 후 </a:t>
            </a:r>
            <a:endParaRPr lang="ko-KR" altLang="en-US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pSp>
        <p:nvGrpSpPr>
          <p:cNvPr id="48" name="그룹 47"/>
          <p:cNvGrpSpPr/>
          <p:nvPr/>
        </p:nvGrpSpPr>
        <p:grpSpPr>
          <a:xfrm>
            <a:off x="1373868" y="3798534"/>
            <a:ext cx="1268997" cy="923346"/>
            <a:chOff x="2116885" y="4736025"/>
            <a:chExt cx="1060759" cy="709187"/>
          </a:xfrm>
        </p:grpSpPr>
        <p:sp>
          <p:nvSpPr>
            <p:cNvPr id="49" name="직사각형 48"/>
            <p:cNvSpPr/>
            <p:nvPr/>
          </p:nvSpPr>
          <p:spPr>
            <a:xfrm>
              <a:off x="2116885" y="4736025"/>
              <a:ext cx="1060758" cy="1812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UNIS</a:t>
              </a:r>
              <a:endParaRPr lang="ko-KR" altLang="en-US" sz="1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2116886" y="4917258"/>
              <a:ext cx="1060758" cy="5279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지점 담당자</a:t>
              </a:r>
              <a:endParaRPr lang="en-US" altLang="ko-KR" sz="1000" dirty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대출실행</a:t>
              </a:r>
              <a:r>
                <a:rPr lang="ko-KR" altLang="en-US" sz="1000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 화면의</a:t>
              </a:r>
              <a:endParaRPr lang="en-US" altLang="ko-KR" sz="1000" dirty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계좌 </a:t>
              </a:r>
              <a:r>
                <a:rPr lang="en-US" altLang="ko-KR" sz="1000" b="1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[</a:t>
              </a:r>
              <a:r>
                <a:rPr lang="ko-KR" altLang="en-US" sz="1000" b="1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인증</a:t>
              </a:r>
              <a:r>
                <a:rPr lang="en-US" altLang="ko-KR" sz="1000" b="1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]</a:t>
              </a:r>
              <a:r>
                <a:rPr lang="ko-KR" altLang="en-US" sz="1000" b="1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버튼 클릭</a:t>
              </a:r>
              <a:endParaRPr lang="en-US" altLang="ko-KR" sz="1000" dirty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</p:grpSp>
      <p:cxnSp>
        <p:nvCxnSpPr>
          <p:cNvPr id="54" name="직선 화살표 연결선 53"/>
          <p:cNvCxnSpPr>
            <a:stCxn id="49" idx="3"/>
          </p:cNvCxnSpPr>
          <p:nvPr/>
        </p:nvCxnSpPr>
        <p:spPr bwMode="auto">
          <a:xfrm flipV="1">
            <a:off x="2642864" y="3914276"/>
            <a:ext cx="4402272" cy="22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55" name="그룹 54"/>
          <p:cNvGrpSpPr/>
          <p:nvPr/>
        </p:nvGrpSpPr>
        <p:grpSpPr>
          <a:xfrm>
            <a:off x="4330620" y="4863375"/>
            <a:ext cx="1276908" cy="923347"/>
            <a:chOff x="2116885" y="4736025"/>
            <a:chExt cx="1060758" cy="709187"/>
          </a:xfrm>
        </p:grpSpPr>
        <p:sp>
          <p:nvSpPr>
            <p:cNvPr id="56" name="직사각형 55"/>
            <p:cNvSpPr/>
            <p:nvPr/>
          </p:nvSpPr>
          <p:spPr>
            <a:xfrm>
              <a:off x="2116885" y="4736025"/>
              <a:ext cx="1060758" cy="1812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UNIS</a:t>
              </a:r>
              <a:endParaRPr lang="ko-KR" altLang="en-US" sz="1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2116885" y="4917258"/>
              <a:ext cx="1060758" cy="5279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Respond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확인 </a:t>
              </a:r>
              <a:endParaRPr lang="en-US" altLang="ko-KR" sz="1000" dirty="0" smtClean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2925914" y="4863375"/>
            <a:ext cx="1268978" cy="923347"/>
            <a:chOff x="2116885" y="4736025"/>
            <a:chExt cx="1060758" cy="709187"/>
          </a:xfrm>
        </p:grpSpPr>
        <p:sp>
          <p:nvSpPr>
            <p:cNvPr id="52" name="직사각형 51"/>
            <p:cNvSpPr/>
            <p:nvPr/>
          </p:nvSpPr>
          <p:spPr>
            <a:xfrm>
              <a:off x="2116885" y="4736025"/>
              <a:ext cx="1060758" cy="181232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ko-KR" altLang="en-US" sz="1000" dirty="0" err="1" smtClean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신용정보원</a:t>
              </a:r>
              <a:endParaRPr lang="ko-KR" altLang="en-US" sz="1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2116885" y="4917258"/>
              <a:ext cx="1060758" cy="5279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ko-KR" altLang="en-US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등록된 계좌번호</a:t>
              </a:r>
              <a:endParaRPr lang="en-US" altLang="ko-KR" sz="1000" dirty="0" smtClean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algn="ctr"/>
              <a:r>
                <a:rPr lang="ko-KR" altLang="en-US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신정원 </a:t>
              </a:r>
              <a:r>
                <a:rPr lang="ko-KR" altLang="en-US" sz="1000" dirty="0" err="1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이기종전문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확인</a:t>
              </a:r>
              <a:endParaRPr lang="en-US" altLang="ko-KR" sz="1000" dirty="0" smtClean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952487" y="2112574"/>
            <a:ext cx="1246808" cy="923347"/>
            <a:chOff x="2116885" y="4736025"/>
            <a:chExt cx="1060758" cy="709187"/>
          </a:xfrm>
        </p:grpSpPr>
        <p:sp>
          <p:nvSpPr>
            <p:cNvPr id="10" name="직사각형 9"/>
            <p:cNvSpPr/>
            <p:nvPr/>
          </p:nvSpPr>
          <p:spPr>
            <a:xfrm>
              <a:off x="2116885" y="4736025"/>
              <a:ext cx="1060758" cy="1812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UNIS</a:t>
              </a:r>
              <a:endParaRPr lang="ko-KR" altLang="en-US" sz="1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116885" y="4917258"/>
              <a:ext cx="1060758" cy="5279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ko-KR" altLang="en-US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계좌 인증 진행</a:t>
              </a:r>
              <a:endParaRPr lang="en-US" altLang="ko-KR" sz="1000" dirty="0" smtClean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기존로직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]</a:t>
              </a:r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5768646" y="5099335"/>
            <a:ext cx="868858" cy="253916"/>
          </a:xfrm>
          <a:prstGeom prst="rect">
            <a:avLst/>
          </a:prstGeom>
          <a:solidFill>
            <a:srgbClr val="FF571F"/>
          </a:solidFill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/>
                </a:solidFill>
                <a:latin typeface="오케이체 Light" panose="02020603020101020101" pitchFamily="18" charset="-127"/>
                <a:ea typeface="오케이체 Light" panose="02020603020101020101" pitchFamily="18" charset="-127"/>
              </a:rPr>
              <a:t>생계비 계좌</a:t>
            </a:r>
            <a:r>
              <a:rPr lang="en-US" altLang="ko-KR" sz="1050" dirty="0" smtClean="0">
                <a:solidFill>
                  <a:schemeClr val="bg1"/>
                </a:solidFill>
                <a:latin typeface="오케이체 Light" panose="02020603020101020101" pitchFamily="18" charset="-127"/>
                <a:ea typeface="오케이체 Light" panose="02020603020101020101" pitchFamily="18" charset="-127"/>
              </a:rPr>
              <a:t>?</a:t>
            </a:r>
            <a:endParaRPr lang="en-US" altLang="ko-KR" sz="1050" dirty="0">
              <a:solidFill>
                <a:schemeClr val="bg1"/>
              </a:solidFill>
              <a:latin typeface="오케이체 Light" panose="02020603020101020101" pitchFamily="18" charset="-127"/>
              <a:ea typeface="오케이체 Light" panose="02020603020101020101" pitchFamily="18" charset="-127"/>
            </a:endParaRPr>
          </a:p>
        </p:txBody>
      </p:sp>
      <p:grpSp>
        <p:nvGrpSpPr>
          <p:cNvPr id="82" name="그룹 81"/>
          <p:cNvGrpSpPr/>
          <p:nvPr/>
        </p:nvGrpSpPr>
        <p:grpSpPr>
          <a:xfrm>
            <a:off x="7031932" y="3791651"/>
            <a:ext cx="1254304" cy="923346"/>
            <a:chOff x="2116885" y="4736025"/>
            <a:chExt cx="1060759" cy="709187"/>
          </a:xfrm>
        </p:grpSpPr>
        <p:sp>
          <p:nvSpPr>
            <p:cNvPr id="83" name="직사각형 82"/>
            <p:cNvSpPr/>
            <p:nvPr/>
          </p:nvSpPr>
          <p:spPr>
            <a:xfrm>
              <a:off x="2116885" y="4736025"/>
              <a:ext cx="1060758" cy="1812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UNIS</a:t>
              </a:r>
              <a:r>
                <a:rPr lang="ko-KR" altLang="en-US" sz="1000" dirty="0" smtClean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팝업</a:t>
              </a:r>
              <a:endParaRPr lang="ko-KR" altLang="en-US" sz="1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2116886" y="4917258"/>
              <a:ext cx="1060758" cy="5279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등록된 계좌번호로 </a:t>
              </a:r>
              <a:endParaRPr lang="en-US" altLang="ko-KR" sz="1000" dirty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인증 </a:t>
              </a:r>
              <a:r>
                <a:rPr lang="en-US" altLang="ko-KR" sz="1000" b="1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[</a:t>
              </a:r>
              <a:r>
                <a:rPr lang="ko-KR" altLang="en-US" sz="1000" b="1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완료</a:t>
              </a:r>
              <a:r>
                <a:rPr lang="en-US" altLang="ko-KR" sz="1000" b="1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] </a:t>
              </a:r>
              <a:r>
                <a:rPr lang="ko-KR" altLang="en-US" sz="1000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상태 변화</a:t>
              </a:r>
              <a:endParaRPr lang="en-US" altLang="ko-KR" sz="1000" dirty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2936999" y="3798532"/>
            <a:ext cx="1246808" cy="923347"/>
            <a:chOff x="2116885" y="4736025"/>
            <a:chExt cx="1060758" cy="709187"/>
          </a:xfrm>
        </p:grpSpPr>
        <p:sp>
          <p:nvSpPr>
            <p:cNvPr id="58" name="직사각형 57"/>
            <p:cNvSpPr/>
            <p:nvPr/>
          </p:nvSpPr>
          <p:spPr>
            <a:xfrm>
              <a:off x="2116885" y="4736025"/>
              <a:ext cx="1060758" cy="1812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UNIS</a:t>
              </a:r>
              <a:endParaRPr lang="ko-KR" altLang="en-US" sz="1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2116885" y="4917258"/>
              <a:ext cx="1060758" cy="5279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ko-KR" altLang="en-US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계좌 인증 진행</a:t>
              </a:r>
              <a:endParaRPr lang="en-US" altLang="ko-KR" sz="1000" dirty="0" smtClean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기존로직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]</a:t>
              </a:r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7031207" y="4867743"/>
            <a:ext cx="1254796" cy="923347"/>
            <a:chOff x="2116885" y="4736025"/>
            <a:chExt cx="1060758" cy="709187"/>
          </a:xfrm>
        </p:grpSpPr>
        <p:sp>
          <p:nvSpPr>
            <p:cNvPr id="62" name="직사각형 61"/>
            <p:cNvSpPr/>
            <p:nvPr/>
          </p:nvSpPr>
          <p:spPr>
            <a:xfrm>
              <a:off x="2116885" y="4736025"/>
              <a:ext cx="1060758" cy="1812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bg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UNIS</a:t>
              </a:r>
              <a:endParaRPr lang="ko-KR" altLang="en-US" sz="100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2116885" y="4917258"/>
              <a:ext cx="1060758" cy="5279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36000" rIns="18000" bIns="36000"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(1)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팝업 </a:t>
              </a:r>
              <a:r>
                <a:rPr lang="en-US" altLang="ko-KR" sz="1000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ALERT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(2)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기존 </a:t>
              </a:r>
              <a:r>
                <a:rPr lang="ko-KR" altLang="en-US" sz="1000" dirty="0">
                  <a:solidFill>
                    <a:schemeClr val="tx1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</a:rPr>
                <a:t>계좌 삭제</a:t>
              </a:r>
              <a:endParaRPr lang="en-US" altLang="ko-KR" sz="1000" dirty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endParaRPr>
            </a:p>
          </p:txBody>
        </p:sp>
      </p:grpSp>
      <p:cxnSp>
        <p:nvCxnSpPr>
          <p:cNvPr id="21" name="꺾인 연결선 20"/>
          <p:cNvCxnSpPr>
            <a:stCxn id="80" idx="0"/>
            <a:endCxn id="84" idx="1"/>
          </p:cNvCxnSpPr>
          <p:nvPr/>
        </p:nvCxnSpPr>
        <p:spPr>
          <a:xfrm rot="5400000" flipH="1" flipV="1">
            <a:off x="6253489" y="4320891"/>
            <a:ext cx="728030" cy="82885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타원 66"/>
          <p:cNvSpPr/>
          <p:nvPr/>
        </p:nvSpPr>
        <p:spPr>
          <a:xfrm>
            <a:off x="6825470" y="4256730"/>
            <a:ext cx="227792" cy="229150"/>
          </a:xfrm>
          <a:prstGeom prst="ellipse">
            <a:avLst/>
          </a:prstGeom>
          <a:solidFill>
            <a:srgbClr val="FF57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F</a:t>
            </a:r>
            <a:endParaRPr lang="ko-KR" altLang="en-US" sz="1400" dirty="0"/>
          </a:p>
        </p:txBody>
      </p:sp>
      <p:sp>
        <p:nvSpPr>
          <p:cNvPr id="68" name="타원 67"/>
          <p:cNvSpPr/>
          <p:nvPr/>
        </p:nvSpPr>
        <p:spPr>
          <a:xfrm>
            <a:off x="6822427" y="5119351"/>
            <a:ext cx="227792" cy="229150"/>
          </a:xfrm>
          <a:prstGeom prst="ellipse">
            <a:avLst/>
          </a:prstGeom>
          <a:solidFill>
            <a:srgbClr val="FF57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T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094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9FEB-C5B7-4C5D-BA12-F2FC98EEE988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91444" y="692696"/>
            <a:ext cx="2232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오케이체 Light" panose="02020603020101020101" pitchFamily="18" charset="-127"/>
                <a:ea typeface="오케이체 Light" panose="02020603020101020101" pitchFamily="18" charset="-127"/>
              </a:rPr>
              <a:t>UCBSLNFA01M00 </a:t>
            </a:r>
            <a:r>
              <a:rPr lang="en-US" altLang="ko-KR" sz="1050" dirty="0" smtClean="0">
                <a:latin typeface="오케이체 Light" panose="02020603020101020101" pitchFamily="18" charset="-127"/>
                <a:ea typeface="오케이체 Light" panose="02020603020101020101" pitchFamily="18" charset="-127"/>
              </a:rPr>
              <a:t>	</a:t>
            </a:r>
            <a:endParaRPr lang="ko-KR" altLang="en-US" sz="1050" dirty="0">
              <a:latin typeface="오케이체 Light" panose="02020603020101020101" pitchFamily="18" charset="-127"/>
              <a:ea typeface="오케이체 Light" panose="0202060302010102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4723" y="704800"/>
            <a:ext cx="2232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latin typeface="오케이체 Light" panose="02020603020101020101" pitchFamily="18" charset="-127"/>
                <a:ea typeface="오케이체 Light" panose="02020603020101020101" pitchFamily="18" charset="-127"/>
              </a:rPr>
              <a:t>대출 실행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8976320" y="944724"/>
          <a:ext cx="3215680" cy="2066610"/>
        </p:xfrm>
        <a:graphic>
          <a:graphicData uri="http://schemas.openxmlformats.org/drawingml/2006/table">
            <a:tbl>
              <a:tblPr firstRow="1" bandRow="1"/>
              <a:tblGrid>
                <a:gridCol w="216024">
                  <a:extLst>
                    <a:ext uri="{9D8B030D-6E8A-4147-A177-3AD203B41FA5}">
                      <a16:colId xmlns:a16="http://schemas.microsoft.com/office/drawing/2014/main" val="3232395922"/>
                    </a:ext>
                  </a:extLst>
                </a:gridCol>
                <a:gridCol w="2999656">
                  <a:extLst>
                    <a:ext uri="{9D8B030D-6E8A-4147-A177-3AD203B41FA5}">
                      <a16:colId xmlns:a16="http://schemas.microsoft.com/office/drawing/2014/main" val="62243123"/>
                    </a:ext>
                  </a:extLst>
                </a:gridCol>
              </a:tblGrid>
              <a:tr h="8690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1</a:t>
                      </a:r>
                      <a:endParaRPr lang="ko-KR" altLang="en-US" sz="900" dirty="0">
                        <a:latin typeface="오케이체 Light" panose="02020603020101020101" pitchFamily="18" charset="-127"/>
                        <a:ea typeface="오케이체 Light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1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· [</a:t>
                      </a:r>
                      <a:r>
                        <a:rPr lang="ko-KR" altLang="en-US" sz="900" b="1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인증</a:t>
                      </a:r>
                      <a:r>
                        <a:rPr lang="en-US" altLang="ko-KR" sz="900" b="1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] </a:t>
                      </a:r>
                      <a:r>
                        <a:rPr lang="ko-KR" altLang="en-US" sz="900" b="1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버튼 클릭 </a:t>
                      </a:r>
                      <a:r>
                        <a:rPr lang="en-US" altLang="ko-KR" sz="900" b="1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[</a:t>
                      </a:r>
                      <a:r>
                        <a:rPr lang="ko-KR" altLang="en-US" sz="900" b="1" baseline="0" dirty="0" err="1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기존로직</a:t>
                      </a:r>
                      <a:r>
                        <a:rPr lang="en-US" altLang="ko-KR" sz="900" b="1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] </a:t>
                      </a:r>
                    </a:p>
                    <a:p>
                      <a:pPr algn="l" latinLnBrk="1"/>
                      <a:endParaRPr lang="en-US" altLang="ko-KR" sz="900" baseline="0" dirty="0" smtClean="0">
                        <a:latin typeface="오케이체 Light" panose="02020603020101020101" pitchFamily="18" charset="-127"/>
                        <a:ea typeface="오케이체 Light" panose="02020603020101020101" pitchFamily="18" charset="-127"/>
                      </a:endParaRPr>
                    </a:p>
                    <a:p>
                      <a:pPr algn="l" latinLnBrk="1"/>
                      <a:r>
                        <a:rPr lang="en-US" altLang="ko-KR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 - </a:t>
                      </a:r>
                      <a:r>
                        <a:rPr lang="ko-KR" altLang="en-US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담당자가 은행명과 계좌번호</a:t>
                      </a:r>
                      <a:r>
                        <a:rPr lang="en-US" altLang="ko-KR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 </a:t>
                      </a:r>
                      <a:r>
                        <a:rPr lang="ko-KR" altLang="en-US" sz="900" baseline="0" dirty="0" err="1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예금주명</a:t>
                      </a:r>
                      <a:r>
                        <a:rPr lang="ko-KR" altLang="en-US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 입력하면 </a:t>
                      </a:r>
                      <a:endParaRPr lang="en-US" altLang="ko-KR" sz="900" baseline="0" dirty="0" smtClean="0">
                        <a:latin typeface="오케이체 Light" panose="02020603020101020101" pitchFamily="18" charset="-127"/>
                        <a:ea typeface="오케이체 Light" panose="02020603020101020101" pitchFamily="18" charset="-127"/>
                      </a:endParaRPr>
                    </a:p>
                    <a:p>
                      <a:pPr algn="l" latinLnBrk="1"/>
                      <a:r>
                        <a:rPr lang="en-US" altLang="ko-KR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 - </a:t>
                      </a:r>
                      <a:r>
                        <a:rPr lang="ko-KR" altLang="en-US" sz="900" baseline="0" dirty="0" err="1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계좌인증</a:t>
                      </a:r>
                      <a:r>
                        <a:rPr lang="ko-KR" altLang="en-US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 </a:t>
                      </a:r>
                      <a:r>
                        <a:rPr lang="en-US" altLang="ko-KR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[</a:t>
                      </a:r>
                      <a:r>
                        <a:rPr lang="ko-KR" altLang="en-US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인증</a:t>
                      </a:r>
                      <a:r>
                        <a:rPr lang="en-US" altLang="ko-KR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] </a:t>
                      </a:r>
                      <a:r>
                        <a:rPr lang="ko-KR" altLang="en-US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버튼 누를 수 있게 활성화 </a:t>
                      </a:r>
                      <a:endParaRPr lang="en-US" altLang="ko-KR" sz="900" baseline="0" dirty="0" smtClean="0">
                        <a:latin typeface="오케이체 Light" panose="02020603020101020101" pitchFamily="18" charset="-127"/>
                        <a:ea typeface="오케이체 Light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65037"/>
                  </a:ext>
                </a:extLst>
              </a:tr>
              <a:tr h="11975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2</a:t>
                      </a:r>
                      <a:endParaRPr lang="ko-KR" altLang="en-US" sz="900" dirty="0">
                        <a:latin typeface="오케이체 Light" panose="02020603020101020101" pitchFamily="18" charset="-127"/>
                        <a:ea typeface="오케이체 Light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1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· </a:t>
                      </a:r>
                      <a:r>
                        <a:rPr lang="ko-KR" altLang="en-US" sz="900" b="1" baseline="0" dirty="0" err="1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계좌인증</a:t>
                      </a:r>
                      <a:r>
                        <a:rPr lang="ko-KR" altLang="en-US" sz="900" b="1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 완료 </a:t>
                      </a:r>
                      <a:r>
                        <a:rPr lang="en-US" altLang="ko-KR" sz="900" b="1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[</a:t>
                      </a:r>
                      <a:r>
                        <a:rPr lang="ko-KR" altLang="en-US" sz="900" b="1" baseline="0" dirty="0" err="1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기존로직</a:t>
                      </a:r>
                      <a:r>
                        <a:rPr lang="en-US" altLang="ko-KR" sz="900" b="1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] </a:t>
                      </a:r>
                    </a:p>
                    <a:p>
                      <a:pPr algn="l" latinLnBrk="1"/>
                      <a:endParaRPr lang="en-US" altLang="ko-KR" sz="900" baseline="0" dirty="0" smtClean="0">
                        <a:latin typeface="오케이체 Light" panose="02020603020101020101" pitchFamily="18" charset="-127"/>
                        <a:ea typeface="오케이체 Light" panose="02020603020101020101" pitchFamily="18" charset="-127"/>
                      </a:endParaRPr>
                    </a:p>
                    <a:p>
                      <a:pPr algn="l" latinLnBrk="1"/>
                      <a:r>
                        <a:rPr lang="en-US" altLang="ko-KR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 - </a:t>
                      </a:r>
                      <a:r>
                        <a:rPr lang="ko-KR" altLang="en-US" sz="900" baseline="0" dirty="0" err="1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계좌인증이</a:t>
                      </a:r>
                      <a:r>
                        <a:rPr lang="ko-KR" altLang="en-US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 완료된 고객은 </a:t>
                      </a:r>
                      <a:r>
                        <a:rPr lang="ko-KR" altLang="en-US" sz="900" baseline="0" dirty="0" err="1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계좌인증</a:t>
                      </a:r>
                      <a:r>
                        <a:rPr lang="ko-KR" altLang="en-US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 부분에 </a:t>
                      </a:r>
                      <a:r>
                        <a:rPr lang="en-US" altLang="ko-KR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[</a:t>
                      </a:r>
                      <a:r>
                        <a:rPr lang="ko-KR" altLang="en-US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완료</a:t>
                      </a:r>
                      <a:r>
                        <a:rPr lang="en-US" altLang="ko-KR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]</a:t>
                      </a:r>
                      <a:r>
                        <a:rPr lang="ko-KR" altLang="en-US" sz="900" baseline="0" dirty="0" smtClean="0">
                          <a:latin typeface="오케이체 Light" panose="02020603020101020101" pitchFamily="18" charset="-127"/>
                          <a:ea typeface="오케이체 Light" panose="02020603020101020101" pitchFamily="18" charset="-127"/>
                        </a:rPr>
                        <a:t>라고 뜸 </a:t>
                      </a:r>
                      <a:endParaRPr lang="en-US" altLang="ko-KR" sz="900" baseline="0" dirty="0" smtClean="0">
                        <a:latin typeface="오케이체 Light" panose="02020603020101020101" pitchFamily="18" charset="-127"/>
                        <a:ea typeface="오케이체 Light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19949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7815227" y="4725144"/>
            <a:ext cx="648072" cy="408263"/>
          </a:xfrm>
          <a:prstGeom prst="rect">
            <a:avLst/>
          </a:prstGeom>
          <a:solidFill>
            <a:srgbClr val="F4F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8295557" y="5029505"/>
            <a:ext cx="162070" cy="16369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>
                <a:latin typeface="오케이체 Light" pitchFamily="18" charset="-127"/>
                <a:ea typeface="오케이체 Light" pitchFamily="18" charset="-127"/>
              </a:rPr>
              <a:t>4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6993394" y="2456892"/>
            <a:ext cx="686782" cy="297888"/>
            <a:chOff x="6993394" y="2456892"/>
            <a:chExt cx="686782" cy="297888"/>
          </a:xfrm>
        </p:grpSpPr>
        <p:grpSp>
          <p:nvGrpSpPr>
            <p:cNvPr id="20" name="그룹 19"/>
            <p:cNvGrpSpPr/>
            <p:nvPr/>
          </p:nvGrpSpPr>
          <p:grpSpPr>
            <a:xfrm>
              <a:off x="6993394" y="2456892"/>
              <a:ext cx="686782" cy="297888"/>
              <a:chOff x="7965502" y="5661248"/>
              <a:chExt cx="686782" cy="297888"/>
            </a:xfrm>
          </p:grpSpPr>
          <p:sp>
            <p:nvSpPr>
              <p:cNvPr id="21" name="직사각형 20"/>
              <p:cNvSpPr/>
              <p:nvPr/>
            </p:nvSpPr>
            <p:spPr>
              <a:xfrm>
                <a:off x="8130442" y="5661248"/>
                <a:ext cx="521842" cy="29788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오케이체 Light" panose="02020603020101020101" pitchFamily="18" charset="-127"/>
                    <a:ea typeface="오케이체 Light" panose="02020603020101020101" pitchFamily="18" charset="-127"/>
                  </a:rPr>
                  <a:t> </a:t>
                </a:r>
                <a:endParaRPr lang="ko-KR" altLang="en-US" sz="1000" dirty="0">
                  <a:solidFill>
                    <a:schemeClr val="tx1"/>
                  </a:solidFill>
                  <a:latin typeface="오케이체 Light" panose="02020603020101020101" pitchFamily="18" charset="-127"/>
                  <a:ea typeface="오케이체 Light" panose="02020603020101020101" pitchFamily="18" charset="-127"/>
                </a:endParaRPr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7965502" y="5728346"/>
                <a:ext cx="162070" cy="16369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900" b="1" dirty="0" smtClean="0">
                    <a:latin typeface="오케이체 Light" pitchFamily="18" charset="-127"/>
                    <a:ea typeface="오케이체 Light" pitchFamily="18" charset="-127"/>
                  </a:rPr>
                  <a:t>1</a:t>
                </a:r>
              </a:p>
            </p:txBody>
          </p:sp>
        </p:grpSp>
        <p:sp>
          <p:nvSpPr>
            <p:cNvPr id="5" name="직사각형 4"/>
            <p:cNvSpPr/>
            <p:nvPr/>
          </p:nvSpPr>
          <p:spPr>
            <a:xfrm>
              <a:off x="7340179" y="2607102"/>
              <a:ext cx="324035" cy="14767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500" b="1" dirty="0" smtClean="0"/>
                <a:t>인증</a:t>
              </a:r>
              <a:endParaRPr lang="ko-KR" altLang="en-US" sz="5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646993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</Words>
  <Application>Microsoft Office PowerPoint</Application>
  <PresentationFormat>와이드스크린</PresentationFormat>
  <Paragraphs>83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Pretendard Medium</vt:lpstr>
      <vt:lpstr>나눔스퀘어라운드 Bold</vt:lpstr>
      <vt:lpstr>나눔스퀘어라운드 Regular</vt:lpstr>
      <vt:lpstr>맑은 고딕</vt:lpstr>
      <vt:lpstr>오케이체 Light</vt:lpstr>
      <vt:lpstr>Arial</vt:lpstr>
      <vt:lpstr>Times New Roman</vt:lpstr>
      <vt:lpstr>Office 테마</vt:lpstr>
      <vt:lpstr> (이기종)압류금지 생계비계좌 개설해지정보 온라인 조회 요청  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(이기종)압류금지 생계비계좌 개설해지정보 온라인 조회 요청  </dc:title>
  <dc:creator>OK</dc:creator>
  <cp:lastModifiedBy>OK</cp:lastModifiedBy>
  <cp:revision>2</cp:revision>
  <dcterms:created xsi:type="dcterms:W3CDTF">2026-04-27T04:31:30Z</dcterms:created>
  <dcterms:modified xsi:type="dcterms:W3CDTF">2026-04-27T04:31:52Z</dcterms:modified>
</cp:coreProperties>
</file>